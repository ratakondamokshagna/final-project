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66" r:id="rId6"/>
    <p:sldId id="267" r:id="rId7"/>
    <p:sldId id="259" r:id="rId8"/>
    <p:sldId id="260" r:id="rId9"/>
    <p:sldId id="261" r:id="rId10"/>
    <p:sldId id="262" r:id="rId11"/>
    <p:sldId id="263" r:id="rId12"/>
    <p:sldId id="268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D3948-CF54-444D-AD05-84E901A08D67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A142F-DC0F-43D0-9BCE-06558026AB6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D452D-7E0B-42A6-A893-33861259EAB0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70B5-49FD-4BA9-BFCE-50EE0BDFF53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BB9FD-9FB7-4035-9CBF-2E75AACBC7D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93D4D-D4CC-40F2-BB09-BD8366242743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70053-EB7C-45CE-83E4-3F12E6EAA123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5428-E2C0-4060-A4B0-14726F6C3C47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8606E-761F-4BA6-BEBA-7567183AED59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D5605-3026-4801-912E-870654A91BAC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0FFAE-65BA-423F-93EF-8510F62572D4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DF9AA-1750-4496-A48D-9DC879C9FC53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D1D0B-B9DC-4C0D-AFA5-8816E817746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BB9860-3173-4580-87F0-42FE637AC4A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.png"/><Relationship Id="rId7" Type="http://schemas.openxmlformats.org/officeDocument/2006/relationships/hyperlink" Target="https://www.ncbi.nlm.nih.gov/pmc/articles/PMC7152888/&#13;" TargetMode="External"/><Relationship Id="rId6" Type="http://schemas.openxmlformats.org/officeDocument/2006/relationships/hyperlink" Target="https://scikit-learn.org/stable/tutorial/text_analytics/working_with_text_data.html&#13;" TargetMode="External"/><Relationship Id="rId5" Type="http://schemas.openxmlformats.org/officeDocument/2006/relationships/hyperlink" Target="https://ieeexplore.ieee.org/document/7780458&#13;" TargetMode="External"/><Relationship Id="rId4" Type="http://schemas.openxmlformats.org/officeDocument/2006/relationships/hyperlink" Target="https://www.sciencedirect.com/science/article/pii/S1532046418301828&#13;" TargetMode="External"/><Relationship Id="rId3" Type="http://schemas.openxmlformats.org/officeDocument/2006/relationships/hyperlink" Target="https://aclanthology.org/2020.nlpcovid19-acl.11/&#13;" TargetMode="External"/><Relationship Id="rId2" Type="http://schemas.openxmlformats.org/officeDocument/2006/relationships/hyperlink" Target="https://ieeexplore.ieee.org/document/8356347&#13;" TargetMode="External"/><Relationship Id="rId1" Type="http://schemas.openxmlformats.org/officeDocument/2006/relationships/hyperlink" Target="%20https://link.springer.com/book/10.1007/978-3-319-55394-8&#13;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894" y="2477023"/>
            <a:ext cx="9529482" cy="1084729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110" b="1" dirty="0"/>
              <a:t>Project Specification No.46</a:t>
            </a:r>
            <a:br>
              <a:rPr lang="en-IN" sz="3110" b="1" dirty="0"/>
            </a:br>
            <a:br>
              <a:rPr lang="en-US" sz="3110" dirty="0"/>
            </a:br>
            <a:r>
              <a:rPr lang="en-US" sz="4000" dirty="0"/>
              <a:t> </a:t>
            </a:r>
            <a:r>
              <a:rPr lang="en-IN" altLang="en-US" sz="4400" b="1" dirty="0"/>
              <a:t>Text Mining and</a:t>
            </a:r>
            <a:r>
              <a:rPr lang="en-US" altLang="en-GB" sz="4400" b="1" dirty="0"/>
              <a:t>Sentiment Analysis Based Intelligent System for</a:t>
            </a:r>
            <a:r>
              <a:rPr lang="en-IN" altLang="en-US" sz="4400" b="1" dirty="0"/>
              <a:t> </a:t>
            </a:r>
            <a:r>
              <a:rPr lang="en-US" altLang="en-GB" sz="4400" b="1" dirty="0"/>
              <a:t>Monitoring and Evaluating Public Health Awareness Campaigns</a:t>
            </a:r>
            <a:endParaRPr lang="en-US" altLang="en-GB" sz="4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14482"/>
            <a:ext cx="9144000" cy="3043518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Course Code &amp; Name: </a:t>
            </a:r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21CSP401L 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 PROJECT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 Name</a:t>
            </a:r>
            <a:r>
              <a:rPr lang="en-IN" sz="1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Ratakonda Mokshagna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(RA2211026050011) &amp; T Dyana Vardhan Reddy (RA2211026050024)</a:t>
            </a:r>
            <a:endParaRPr lang="en-IN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Branch Name &amp; Section: 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CSE</a:t>
            </a:r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AIML</a:t>
            </a:r>
            <a:endParaRPr lang="en-IN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IN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Project Guide Details</a:t>
            </a:r>
            <a:endParaRPr lang="en-IN" sz="1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C. Priyadharsini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Ass</a:t>
            </a:r>
            <a:r>
              <a:rPr lang="en-I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istant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Professor</a:t>
            </a:r>
            <a:endParaRPr lang="en-IN" sz="18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9002" cy="1353670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4116A-9FF3-4485-830C-A5FE38F3D974}" type="datetime1">
              <a:rPr lang="en-IN" smtClean="0"/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School of Computing - SRM Institute of Science &amp; Technology, Tiruchirappalli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5682" y="207494"/>
            <a:ext cx="9605683" cy="1325563"/>
          </a:xfrm>
        </p:spPr>
        <p:txBody>
          <a:bodyPr/>
          <a:lstStyle/>
          <a:p>
            <a:r>
              <a:rPr lang="en-IN" b="1" dirty="0"/>
              <a:t>Introduction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064" y="1353669"/>
            <a:ext cx="11260128" cy="4935163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Background of the Project Domain</a:t>
            </a:r>
            <a:endParaRPr lang="en-US" sz="5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growth of social media platforms generates massive health-related textual data</a:t>
            </a: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opinions and misinformation spread quickly during health awareness campaigns</a:t>
            </a: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survey-based analysis methods are slow and difficult to scale effectively</a:t>
            </a: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and Text Mining help analyze public sentiment and misinformation automatically</a:t>
            </a: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of the Topic to the Core Course</a:t>
            </a:r>
            <a:endParaRPr lang="en-US" sz="5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Artificial Intelligence and Machine Learning concepts for text classification</a:t>
            </a: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Natural Language Processing techniques to analyze user-generated content</a:t>
            </a: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LSTM, TF-IDF, and Logistic Regression prediction models</a:t>
            </a: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real-world analytics, visualization, and decision-support applications</a:t>
            </a: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5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Project?</a:t>
            </a:r>
            <a:endParaRPr lang="en-US" sz="5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Health-related misinformation on social media is increasing rapidly worldwide</a:t>
            </a: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mainly focus on sentiment analysis without misinformation detection</a:t>
            </a: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early detection of negative sentiment and fake information</a:t>
            </a: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5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policymakers improve public health awareness campaigns using data-driven insights</a:t>
            </a:r>
            <a:endParaRPr lang="en-US" altLang="en-GB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5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70B5-49FD-4BA9-BFCE-50EE0BDFF53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9002" cy="13536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7353" y="248584"/>
            <a:ext cx="10515600" cy="1325563"/>
          </a:xfrm>
        </p:spPr>
        <p:txBody>
          <a:bodyPr/>
          <a:lstStyle/>
          <a:p>
            <a:r>
              <a:rPr lang="en-IN" b="1" dirty="0"/>
              <a:t>Problem Statement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53670"/>
            <a:ext cx="11039669" cy="4823293"/>
          </a:xfrm>
        </p:spPr>
        <p:txBody>
          <a:bodyPr>
            <a:normAutofit fontScale="90000" lnSpcReduction="20000"/>
          </a:bodyPr>
          <a:lstStyle/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to be Solved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health campaigns generate massive amounts of unstructured social media data</a:t>
            </a:r>
            <a:endParaRPr lang="en-US" alt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mainly focus only on sentiment analysis or misinformation separately</a:t>
            </a:r>
            <a:endParaRPr lang="en-US" alt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or misleading health information spreads rapidly across social platforms</a:t>
            </a:r>
            <a:endParaRPr lang="en-US" alt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an integrated system for early sentiment and misinformation detection</a:t>
            </a:r>
            <a:endParaRPr lang="en-US" alt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/ Academic Significance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strongly influences public perception during health crises</a:t>
            </a:r>
            <a:endParaRPr lang="en-US" alt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analysis methods fail to process large-scale real-time textual data</a:t>
            </a:r>
            <a:endParaRPr lang="en-US" alt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integration of NLP, Machine Learning, and Deep Learning techniques</a:t>
            </a:r>
            <a:endParaRPr lang="en-US" alt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policymakers with data-driven insights and trend monitoring</a:t>
            </a:r>
            <a:endParaRPr lang="en-US" alt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GB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Issues Identified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5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spread of misinformation during public health campaigns</a:t>
            </a:r>
            <a:endParaRPr lang="en-US" altLang="en-GB" sz="15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5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analyzing large-scale user-generated textual content</a:t>
            </a:r>
            <a:endParaRPr lang="en-US" altLang="en-GB" sz="15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5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real-time trend and spike detection capabilities</a:t>
            </a:r>
            <a:endParaRPr lang="en-US" altLang="en-GB" sz="15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15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 of integrated and scalable monitoring solutions</a:t>
            </a:r>
            <a:endParaRPr lang="en-US" altLang="en-GB" sz="15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70B5-49FD-4BA9-BFCE-50EE0BDFF53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9002" cy="13536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7353" y="248584"/>
            <a:ext cx="10515600" cy="1325563"/>
          </a:xfrm>
        </p:spPr>
        <p:txBody>
          <a:bodyPr/>
          <a:lstStyle/>
          <a:p>
            <a:r>
              <a:rPr lang="en-US" b="1" dirty="0"/>
              <a:t>Objectives of the work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53670"/>
            <a:ext cx="11039669" cy="4823293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system for sentiment analysis and misinformation detection using NLP techniques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meaningful patterns and public opinions from large-scale social media textual data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Machine Learning and Deep Learning models for real-time sentiment classification and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misinformation detection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early trend and spike detection for negative sentiment and misleading health information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decision-making through actionable insights and engagement-based analysis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interactive Streamlit dashboard for real-time monitoring, visualization, and policy support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70B5-49FD-4BA9-BFCE-50EE0BDFF53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9002" cy="13536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7353" y="248584"/>
            <a:ext cx="9477798" cy="1325563"/>
          </a:xfrm>
        </p:spPr>
        <p:txBody>
          <a:bodyPr/>
          <a:lstStyle/>
          <a:p>
            <a:r>
              <a:rPr lang="en-US" b="1" dirty="0"/>
              <a:t>Alignment with UN Sustainable Development Goals (SDGs)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909" y="1940871"/>
            <a:ext cx="11039669" cy="4048754"/>
          </a:xfrm>
        </p:spPr>
        <p:txBody>
          <a:bodyPr>
            <a:normAutofit/>
          </a:bodyPr>
          <a:lstStyle/>
          <a:p>
            <a:r>
              <a:rPr lang="en-US" altLang="en-GB" sz="2000" b="1" dirty="0"/>
              <a:t>SDG 3: Good Health and Well-Being</a:t>
            </a:r>
            <a:endParaRPr lang="en-US" altLang="en-GB" sz="2000" b="1" dirty="0"/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supports public health awareness through analysis of social media discussions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misinformation that may negatively affect public health decisions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early detection of negative public sentiment during health crises and campaigns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health authorities in improving awareness strategies using data-driven insights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70B5-49FD-4BA9-BFCE-50EE0BDFF53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9002" cy="13536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9823" y="136525"/>
            <a:ext cx="10515600" cy="1325563"/>
          </a:xfrm>
        </p:spPr>
        <p:txBody>
          <a:bodyPr/>
          <a:lstStyle/>
          <a:p>
            <a:r>
              <a:rPr lang="en-IN" b="1" dirty="0"/>
              <a:t>Algorithms and Techniques used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70B5-49FD-4BA9-BFCE-50EE0BDFF53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9002" cy="1353670"/>
          </a:xfrm>
          <a:prstGeom prst="rect">
            <a:avLst/>
          </a:prstGeom>
        </p:spPr>
      </p:pic>
      <p:sp>
        <p:nvSpPr>
          <p:cNvPr id="3" name="Content Placeholder 2"/>
          <p:cNvSpPr/>
          <p:nvPr>
            <p:ph idx="1"/>
          </p:nvPr>
        </p:nvSpPr>
        <p:spPr/>
        <p:txBody>
          <a:bodyPr/>
          <a:p>
            <a:r>
              <a:rPr lang="en-US" altLang="en-GB"/>
              <a:t>Long Short-Term Memory (LSTM) for sentiment classification of textual data</a:t>
            </a:r>
            <a:endParaRPr lang="en-US" altLang="en-GB"/>
          </a:p>
          <a:p>
            <a:r>
              <a:rPr lang="en-US" altLang="en-GB"/>
              <a:t>TF-IDF Vectorization for converting text into numerical feature representations</a:t>
            </a:r>
            <a:endParaRPr lang="en-US" altLang="en-GB"/>
          </a:p>
          <a:p>
            <a:r>
              <a:rPr lang="en-US" altLang="en-GB"/>
              <a:t>Logistic Regression for misinformation detection and binary classification</a:t>
            </a:r>
            <a:endParaRPr lang="en-US" altLang="en-GB"/>
          </a:p>
          <a:p>
            <a:r>
              <a:rPr lang="en-US" altLang="en-GB"/>
              <a:t>NLP preprocessing techniques such as tokenization, cleaning, and normalization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7071" y="136525"/>
            <a:ext cx="10515600" cy="1325563"/>
          </a:xfrm>
        </p:spPr>
        <p:txBody>
          <a:bodyPr/>
          <a:lstStyle/>
          <a:p>
            <a:r>
              <a:rPr lang="en-IN" b="1" dirty="0"/>
              <a:t>Proposed System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70B5-49FD-4BA9-BFCE-50EE0BDFF53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9002" cy="1353670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>
          <a:blip r:embed="rId2"/>
          <a:stretch>
            <a:fillRect/>
          </a:stretch>
        </p:blipFill>
        <p:spPr>
          <a:xfrm>
            <a:off x="1849755" y="1143635"/>
            <a:ext cx="8113395" cy="52127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4658" y="365125"/>
            <a:ext cx="9489141" cy="1325563"/>
          </a:xfrm>
        </p:spPr>
        <p:txBody>
          <a:bodyPr/>
          <a:lstStyle/>
          <a:p>
            <a:r>
              <a:rPr lang="en-IN" b="1" dirty="0"/>
              <a:t>Literature Survey/Existing Systems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7080" y="159448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1400" b="1" dirty="0"/>
              <a:t>Literature Survey / Existing Systems</a:t>
            </a:r>
            <a:endParaRPr lang="en-US" altLang="en-GB" sz="1400" b="1" dirty="0"/>
          </a:p>
          <a:p>
            <a:r>
              <a:rPr lang="en-US" altLang="en-GB" sz="1400" dirty="0"/>
              <a:t>Existing systems mainly use Machine Learning models with numerical social media data</a:t>
            </a:r>
            <a:endParaRPr lang="en-US" altLang="en-GB" sz="1400" dirty="0"/>
          </a:p>
          <a:p>
            <a:r>
              <a:rPr lang="en-US" altLang="en-GB" sz="1400" dirty="0"/>
              <a:t>Some approaches focus only on sentiment analysis without misinformation detection</a:t>
            </a:r>
            <a:endParaRPr lang="en-US" altLang="en-GB" sz="1400" dirty="0"/>
          </a:p>
          <a:p>
            <a:r>
              <a:rPr lang="en-US" altLang="en-GB" sz="1400" dirty="0"/>
              <a:t>Deep learning models such as LSTM and BERT are used for text classification tasks</a:t>
            </a:r>
            <a:endParaRPr lang="en-US" altLang="en-GB" sz="1400" dirty="0"/>
          </a:p>
          <a:p>
            <a:r>
              <a:rPr lang="en-US" altLang="en-GB" sz="1400" dirty="0"/>
              <a:t>Most systems lack integrated dashboards and real-time analytical capabilities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b="1" dirty="0"/>
              <a:t>Limitations or Gaps</a:t>
            </a:r>
            <a:endParaRPr lang="en-US" altLang="en-GB" sz="1400" b="1" dirty="0"/>
          </a:p>
          <a:p>
            <a:r>
              <a:rPr lang="en-US" altLang="en-GB" sz="1400" dirty="0"/>
              <a:t>Existing methods often ignore combined sentiment and misinformation analysis</a:t>
            </a:r>
            <a:endParaRPr lang="en-US" altLang="en-GB" sz="1400" dirty="0"/>
          </a:p>
          <a:p>
            <a:r>
              <a:rPr lang="en-US" altLang="en-GB" sz="1400" dirty="0"/>
              <a:t>Many systems cannot effectively track trends and sudden spikes over time</a:t>
            </a:r>
            <a:endParaRPr lang="en-US" altLang="en-GB" sz="1400" dirty="0"/>
          </a:p>
          <a:p>
            <a:r>
              <a:rPr lang="en-US" altLang="en-GB" sz="1400" dirty="0"/>
              <a:t>Transformer-based models require high computational resources for deployment</a:t>
            </a:r>
            <a:endParaRPr lang="en-US" altLang="en-GB" sz="1400" dirty="0"/>
          </a:p>
          <a:p>
            <a:r>
              <a:rPr lang="en-US" altLang="en-GB" sz="1400" dirty="0"/>
              <a:t>Limited explainability and lack of practical real-time monitoring solutions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b="1" dirty="0"/>
              <a:t>How the Proposed Idea Improves Them</a:t>
            </a:r>
            <a:endParaRPr lang="en-US" altLang="en-GB" sz="1400" b="1" dirty="0"/>
          </a:p>
          <a:p>
            <a:r>
              <a:rPr lang="en-US" altLang="en-GB" sz="1400" dirty="0"/>
              <a:t>Integrates sentiment analysis and misinformation detection into a single framework</a:t>
            </a:r>
            <a:endParaRPr lang="en-US" altLang="en-GB" sz="1400" dirty="0"/>
          </a:p>
          <a:p>
            <a:r>
              <a:rPr lang="en-US" altLang="en-GB" sz="1400" dirty="0"/>
              <a:t>Uses LSTM and TF-IDF with Logistic Regression for efficient text classification</a:t>
            </a:r>
            <a:endParaRPr lang="en-US" altLang="en-GB" sz="1400" dirty="0"/>
          </a:p>
          <a:p>
            <a:r>
              <a:rPr lang="en-US" altLang="en-GB" sz="1400" dirty="0"/>
              <a:t>Provides engagement analysis, trend monitoring, and spike detection capabilities</a:t>
            </a:r>
            <a:endParaRPr lang="en-US" altLang="en-GB" sz="1400" dirty="0"/>
          </a:p>
          <a:p>
            <a:r>
              <a:rPr lang="en-US" altLang="en-GB" sz="1400" dirty="0"/>
              <a:t>Includes an interactive Streamlit dashboard for real-time visualization and insights</a:t>
            </a:r>
            <a:endParaRPr lang="en-US" altLang="en-GB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70B5-49FD-4BA9-BFCE-50EE0BDFF53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9002" cy="1353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3624" y="365125"/>
            <a:ext cx="9480176" cy="1325563"/>
          </a:xfrm>
        </p:spPr>
        <p:txBody>
          <a:bodyPr/>
          <a:lstStyle/>
          <a:p>
            <a:r>
              <a:rPr lang="en-IN" b="1" dirty="0"/>
              <a:t>Feasibility Study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272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1400" b="1" dirty="0"/>
              <a:t>Technical Feasibility</a:t>
            </a:r>
            <a:endParaRPr lang="en-US" altLang="en-GB" sz="1400" b="1" dirty="0"/>
          </a:p>
          <a:p>
            <a:pPr marL="0" indent="0">
              <a:buNone/>
            </a:pPr>
            <a:r>
              <a:rPr lang="en-US" altLang="en-GB" sz="1400" dirty="0"/>
              <a:t>The project is feasible using Python, Machine Learning, and NLP technologies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dirty="0"/>
              <a:t>Uses widely supported frameworks such as TensorFlow, Keras, and Scikit-learn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dirty="0"/>
              <a:t>Models can be trained and executed efficiently on standard computing systems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dirty="0"/>
              <a:t>Streamlit enables simple deployment of the interactive web application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b="1" dirty="0"/>
              <a:t>Operational Feasibility</a:t>
            </a:r>
            <a:endParaRPr lang="en-US" altLang="en-GB" sz="1400" b="1" dirty="0"/>
          </a:p>
          <a:p>
            <a:pPr marL="0" indent="0">
              <a:buNone/>
            </a:pPr>
            <a:r>
              <a:rPr lang="en-US" altLang="en-GB" sz="1400" dirty="0"/>
              <a:t>The system can support real-time monitoring of public sentiment and misinformation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dirty="0"/>
              <a:t>Suitable for use by policymakers, researchers, and public health authorities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dirty="0"/>
              <a:t>Provides automated analysis, visualization, and trend monitoring capabilities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dirty="0"/>
              <a:t>Interactive dashboard improves usability and decision-making efficiency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b="1" dirty="0"/>
              <a:t>Time and Resource Feasibility</a:t>
            </a:r>
            <a:endParaRPr lang="en-US" altLang="en-GB" sz="1400" b="1" dirty="0"/>
          </a:p>
          <a:p>
            <a:pPr marL="0" indent="0">
              <a:buNone/>
            </a:pPr>
            <a:r>
              <a:rPr lang="en-US" altLang="en-GB" sz="1400" dirty="0"/>
              <a:t>The project can be completed within the academic timeline using public datasets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dirty="0"/>
              <a:t>Requires moderate computational resources and standard hardware configurations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dirty="0"/>
              <a:t>Development and deployment can be performed using free or open-source tools</a:t>
            </a:r>
            <a:endParaRPr lang="en-US" altLang="en-GB" sz="1400" dirty="0"/>
          </a:p>
          <a:p>
            <a:pPr marL="0" indent="0">
              <a:buNone/>
            </a:pPr>
            <a:r>
              <a:rPr lang="en-US" altLang="en-GB" sz="1400" dirty="0"/>
              <a:t>Cost-effective implementation with scalable future enhancement possibilities</a:t>
            </a:r>
            <a:endParaRPr lang="en-US" altLang="en-GB" sz="1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70B5-49FD-4BA9-BFCE-50EE0BDFF53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9002" cy="13536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7764" y="365125"/>
            <a:ext cx="9516035" cy="1325563"/>
          </a:xfrm>
        </p:spPr>
        <p:txBody>
          <a:bodyPr/>
          <a:lstStyle/>
          <a:p>
            <a:r>
              <a:rPr lang="en-IN" b="1" dirty="0"/>
              <a:t>Proposed Tools &amp; Technologies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1300" b="1" dirty="0"/>
              <a:t>Languages</a:t>
            </a:r>
            <a:endParaRPr lang="en-US" altLang="en-GB" sz="1300" b="1" dirty="0"/>
          </a:p>
          <a:p>
            <a:r>
              <a:rPr lang="en-US" altLang="en-GB" sz="1300" dirty="0"/>
              <a:t>Python is used for data preprocessing, NLP tasks, model training, and evaluation</a:t>
            </a:r>
            <a:endParaRPr lang="en-US" altLang="en-GB" sz="1300" dirty="0"/>
          </a:p>
          <a:p>
            <a:r>
              <a:rPr lang="en-US" altLang="en-GB" sz="1300" dirty="0"/>
              <a:t>Supports Machine Learning, Deep Learning, and visualization development</a:t>
            </a:r>
            <a:endParaRPr lang="en-US" altLang="en-GB" sz="1300" dirty="0"/>
          </a:p>
          <a:p>
            <a:pPr marL="0" indent="0">
              <a:buNone/>
            </a:pPr>
            <a:r>
              <a:rPr lang="en-US" altLang="en-GB" sz="1300" b="1" dirty="0"/>
              <a:t>Frameworks / Libraries</a:t>
            </a:r>
            <a:endParaRPr lang="en-US" altLang="en-GB" sz="1300" b="1" dirty="0"/>
          </a:p>
          <a:p>
            <a:r>
              <a:rPr lang="en-US" altLang="en-GB" sz="1300" dirty="0"/>
              <a:t>TensorFlow / Keras for LSTM-based sentiment analysis</a:t>
            </a:r>
            <a:endParaRPr lang="en-US" altLang="en-GB" sz="1300" dirty="0"/>
          </a:p>
          <a:p>
            <a:r>
              <a:rPr lang="en-US" altLang="en-GB" sz="1300" dirty="0"/>
              <a:t>Scikit-learn for TF-IDF vectorization and Logistic Regression</a:t>
            </a:r>
            <a:endParaRPr lang="en-US" altLang="en-GB" sz="1300" dirty="0"/>
          </a:p>
          <a:p>
            <a:r>
              <a:rPr lang="en-US" altLang="en-GB" sz="1300" dirty="0"/>
              <a:t>Pandas and NumPy for data processing and analysis</a:t>
            </a:r>
            <a:endParaRPr lang="en-US" altLang="en-GB" sz="1300" dirty="0"/>
          </a:p>
          <a:p>
            <a:r>
              <a:rPr lang="en-US" altLang="en-GB" sz="1300" dirty="0"/>
              <a:t>Plotly / Matplotlib and Streamlit for visualization and dashboard development</a:t>
            </a:r>
            <a:endParaRPr lang="en-US" altLang="en-GB" sz="1300" dirty="0"/>
          </a:p>
          <a:p>
            <a:pPr marL="0" indent="0">
              <a:buNone/>
            </a:pPr>
            <a:r>
              <a:rPr lang="en-US" altLang="en-GB" sz="1300" b="1" dirty="0"/>
              <a:t>Platforms</a:t>
            </a:r>
            <a:endParaRPr lang="en-US" altLang="en-GB" sz="1300" dirty="0"/>
          </a:p>
          <a:p>
            <a:r>
              <a:rPr lang="en-US" altLang="en-GB" sz="1300" dirty="0"/>
              <a:t>Developed and tested on Windows, Linux, and Google Colab environments</a:t>
            </a:r>
            <a:endParaRPr lang="en-US" altLang="en-GB" sz="1300" dirty="0"/>
          </a:p>
          <a:p>
            <a:r>
              <a:rPr lang="en-US" altLang="en-GB" sz="1300" dirty="0"/>
              <a:t>Can be deployed locally or on cloud platforms such as Streamlit Cloud or AWS</a:t>
            </a:r>
            <a:endParaRPr lang="en-US" altLang="en-GB" sz="1300" dirty="0"/>
          </a:p>
          <a:p>
            <a:pPr marL="0" indent="0">
              <a:buNone/>
            </a:pPr>
            <a:r>
              <a:rPr lang="en-US" altLang="en-GB" sz="1300" b="1" dirty="0"/>
              <a:t>Databases</a:t>
            </a:r>
            <a:endParaRPr lang="en-US" altLang="en-GB" sz="1300" dirty="0"/>
          </a:p>
          <a:p>
            <a:r>
              <a:rPr lang="en-US" altLang="en-GB" sz="1300" dirty="0"/>
              <a:t>Uses publicly available Twitter datasets stored in CSV format</a:t>
            </a:r>
            <a:endParaRPr lang="en-US" altLang="en-GB" sz="1300" dirty="0"/>
          </a:p>
          <a:p>
            <a:r>
              <a:rPr lang="en-US" altLang="en-GB" sz="1300" dirty="0"/>
              <a:t>No dedicated database required for the current prototype implementation</a:t>
            </a:r>
            <a:endParaRPr lang="en-US" altLang="en-GB" sz="1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70B5-49FD-4BA9-BFCE-50EE0BDFF53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9002" cy="13536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8046" y="365125"/>
            <a:ext cx="8825753" cy="1325563"/>
          </a:xfrm>
        </p:spPr>
        <p:txBody>
          <a:bodyPr/>
          <a:lstStyle/>
          <a:p>
            <a:r>
              <a:rPr lang="en-IN" b="1" dirty="0"/>
              <a:t>Project Overview</a:t>
            </a: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9BC70B5-49FD-4BA9-BFCE-50EE0BDFF532}" type="datetime1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School of Computing - SRM Institute of Science &amp; Technology, Tiruchirappalli</a:t>
            </a:r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C987D95-E3E9-43CF-A987-B5CE8A616346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9002" cy="1353670"/>
          </a:xfrm>
          <a:prstGeom prst="rect">
            <a:avLst/>
          </a:prstGeom>
        </p:spPr>
      </p:pic>
      <p:pic>
        <p:nvPicPr>
          <p:cNvPr id="8" name="Picture 7" descr="Screenshot 2026-04-21 1857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200" y="1574165"/>
            <a:ext cx="9287510" cy="46996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8046" y="365125"/>
            <a:ext cx="8825753" cy="1325563"/>
          </a:xfrm>
        </p:spPr>
        <p:txBody>
          <a:bodyPr/>
          <a:lstStyle/>
          <a:p>
            <a:r>
              <a:rPr lang="en-IN" b="1" dirty="0"/>
              <a:t>References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3670"/>
            <a:ext cx="10515600" cy="4823293"/>
          </a:xfrm>
        </p:spPr>
        <p:txBody>
          <a:bodyPr>
            <a:normAutofit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GB" sz="1800" dirty="0">
                <a:hlinkClick r:id="rId1" action="ppaction://hlinkfile"/>
              </a:rPr>
              <a:t>Sentiment Analysis and Public Opinion Mining</a:t>
            </a:r>
            <a:endParaRPr lang="en-US" altLang="en-GB" sz="1800" dirty="0"/>
          </a:p>
          <a:p>
            <a:pPr>
              <a:lnSpc>
                <a:spcPct val="150000"/>
              </a:lnSpc>
            </a:pPr>
            <a:r>
              <a:rPr lang="en-US" altLang="en-GB" sz="1800" dirty="0">
                <a:hlinkClick r:id="rId2" action="ppaction://hlinkfile"/>
              </a:rPr>
              <a:t>Deep Learning for Twitter Sentiment Analysis</a:t>
            </a:r>
            <a:endParaRPr lang="en-US" altLang="en-GB" sz="1800" dirty="0"/>
          </a:p>
          <a:p>
            <a:pPr>
              <a:lnSpc>
                <a:spcPct val="150000"/>
              </a:lnSpc>
            </a:pPr>
            <a:r>
              <a:rPr lang="en-US" altLang="en-GB" sz="1800" dirty="0">
                <a:hlinkClick r:id="rId3" action="ppaction://hlinkfile"/>
              </a:rPr>
              <a:t>COVID-19 Misinformation Detection using Machine Learning</a:t>
            </a:r>
            <a:endParaRPr lang="en-US" altLang="en-GB" sz="1800" dirty="0"/>
          </a:p>
          <a:p>
            <a:pPr>
              <a:lnSpc>
                <a:spcPct val="150000"/>
              </a:lnSpc>
            </a:pPr>
            <a:r>
              <a:rPr lang="en-US" altLang="en-GB" sz="1800" dirty="0">
                <a:hlinkClick r:id="rId4" action="ppaction://hlinkfile"/>
              </a:rPr>
              <a:t>Natural Language Processing in Healthcare</a:t>
            </a:r>
            <a:endParaRPr lang="en-US" altLang="en-GB" sz="1800" dirty="0"/>
          </a:p>
          <a:p>
            <a:pPr>
              <a:lnSpc>
                <a:spcPct val="150000"/>
              </a:lnSpc>
            </a:pPr>
            <a:r>
              <a:rPr lang="en-US" altLang="en-GB" sz="1800" dirty="0">
                <a:hlinkClick r:id="rId5" action="ppaction://hlinkfile"/>
              </a:rPr>
              <a:t>LSTM-Based Sentiment Classification Techniques</a:t>
            </a:r>
            <a:endParaRPr lang="en-US" altLang="en-GB" sz="1800" dirty="0"/>
          </a:p>
          <a:p>
            <a:pPr>
              <a:lnSpc>
                <a:spcPct val="150000"/>
              </a:lnSpc>
            </a:pPr>
            <a:r>
              <a:rPr lang="en-US" altLang="en-GB" sz="1800" dirty="0">
                <a:hlinkClick r:id="rId6" action="ppaction://hlinkfile"/>
              </a:rPr>
              <a:t>TF-IDF and Logistic Regression for Text Classification</a:t>
            </a:r>
            <a:endParaRPr lang="en-US" altLang="en-GB" sz="1800" dirty="0"/>
          </a:p>
          <a:p>
            <a:pPr>
              <a:lnSpc>
                <a:spcPct val="150000"/>
              </a:lnSpc>
            </a:pPr>
            <a:r>
              <a:rPr lang="en-US" altLang="en-GB" sz="1800" dirty="0">
                <a:hlinkClick r:id="rId7" action="ppaction://hlinkfile"/>
              </a:rPr>
              <a:t>Social Media Analytics for Public Health Monitoring</a:t>
            </a:r>
            <a:endParaRPr lang="en-US" altLang="en-GB" sz="1800" dirty="0"/>
          </a:p>
          <a:p>
            <a:pPr>
              <a:lnSpc>
                <a:spcPct val="150000"/>
              </a:lnSpc>
            </a:pPr>
            <a:endParaRPr lang="en-US" altLang="en-GB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C70B5-49FD-4BA9-BFCE-50EE0BDFF532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School of Computing - SRM Institute of Science &amp; Technology, Tiruchirappalli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87D95-E3E9-43CF-A987-B5CE8A616346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49002" cy="13536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7947</Words>
  <Application>WPS Presentation</Application>
  <PresentationFormat>Widescreen</PresentationFormat>
  <Paragraphs>219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Symbol</vt:lpstr>
      <vt:lpstr>Times New Roman</vt:lpstr>
      <vt:lpstr>Calibri</vt:lpstr>
      <vt:lpstr>Calibri</vt:lpstr>
      <vt:lpstr>Calibri Light</vt:lpstr>
      <vt:lpstr>Microsoft YaHei</vt:lpstr>
      <vt:lpstr>Arial Unicode MS</vt:lpstr>
      <vt:lpstr>Office Theme</vt:lpstr>
      <vt:lpstr>Project Specification No.46   Text Mining andSentiment Analysis Based Intelligent System for Monitoring and Evaluating Public Health Awareness Campaigns</vt:lpstr>
      <vt:lpstr>Introduction</vt:lpstr>
      <vt:lpstr>Problem Statement</vt:lpstr>
      <vt:lpstr>Objectives of the work</vt:lpstr>
      <vt:lpstr>Alignment with UN Sustainable Development Goals (SDGs)</vt:lpstr>
      <vt:lpstr>Algorithms and Techniques used</vt:lpstr>
      <vt:lpstr>Proposed System</vt:lpstr>
      <vt:lpstr>Literature Survey/Existing Systems</vt:lpstr>
      <vt:lpstr>Feasibility Study</vt:lpstr>
      <vt:lpstr>Proposed Tools &amp; Technologies</vt:lpstr>
      <vt:lpstr>Project Overview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Course Project Tile</dc:title>
  <dc:creator>Manjula R</dc:creator>
  <cp:lastModifiedBy>Ratakonda Mokshagna</cp:lastModifiedBy>
  <cp:revision>20</cp:revision>
  <dcterms:created xsi:type="dcterms:W3CDTF">2025-07-28T13:17:00Z</dcterms:created>
  <dcterms:modified xsi:type="dcterms:W3CDTF">2026-05-06T10:35:31Z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2836B1D4E408489087E89AC2AEEAE862_13</vt:lpwstr>
  </property>
  <property fmtid="{D5CDD505-2E9C-101B-9397-08002B2CF9AE}" pid="3" name="KSOProductBuildVer">
    <vt:lpwstr>2057-12.2.0.23202</vt:lpwstr>
  </property>
</Properties>
</file>